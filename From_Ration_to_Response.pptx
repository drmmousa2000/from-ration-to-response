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2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peNDF</c:v>
                </c:pt>
              </c:strCache>
            </c:strRef>
          </c:tx>
          <c:spPr>
            <a:solidFill>
              <a:srgbClr val="2F6B4F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1" i="0" strike="noStrike" sz="1600" u="none">
                    <a:solidFill>
                      <a:srgbClr val="1B2B24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2F6B4F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E9A23B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60% of NDF
on coarse sieve</c:v>
                  </c:pt>
                  <c:pt idx="1">
                    <c:v>25% of NDF
on coarse sieve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18</c:v>
                </c:pt>
                <c:pt idx="1">
                  <c:v>7.5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1" i="0" strike="noStrike" sz="1600" u="none">
                  <a:solidFill>
                    <a:srgbClr val="1B2B24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C6B63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22"/>
          <c:min val="0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Nutrient supply</c:v>
                </c:pt>
              </c:strCache>
            </c:strRef>
          </c:tx>
          <c:spPr>
            <a:solidFill>
              <a:srgbClr val="E9A23B"/>
            </a:solidFill>
            <a:ln w="50800" cap="flat">
              <a:solidFill>
                <a:srgbClr val="E9A23B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E9A23B"/>
              </a:solidFill>
              <a:ln w="9525" cap="flat">
                <a:solidFill>
                  <a:srgbClr val="E9A23B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Sheet1!$A$2:$A$8</c:f>
              <c:multiLvlStrCache>
                <c:ptCount val="7"/>
                <c:lvl>
                  <c:pt idx="0">
                    <c:v/>
                  </c:pt>
                  <c:pt idx="1">
                    <c:v/>
                  </c:pt>
                  <c:pt idx="2">
                    <c:v/>
                  </c:pt>
                  <c:pt idx="3">
                    <c:v/>
                  </c:pt>
                  <c:pt idx="4">
                    <c:v/>
                  </c:pt>
                  <c:pt idx="5">
                    <c:v/>
                  </c:pt>
                  <c:pt idx="6">
                    <c:v/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1</c:v>
                </c:pt>
                <c:pt idx="1">
                  <c:v>2.6</c:v>
                </c:pt>
                <c:pt idx="2">
                  <c:v>3.7</c:v>
                </c:pt>
                <c:pt idx="3">
                  <c:v>4.2</c:v>
                </c:pt>
                <c:pt idx="4">
                  <c:v>3.7</c:v>
                </c:pt>
                <c:pt idx="5">
                  <c:v>2.6</c:v>
                </c:pt>
                <c:pt idx="6">
                  <c:v>1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5"/>
          <c:min val="0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Opening: the book's central idea is that a ration is only successful when the animal responds successfully. The strip at the bottom is the chain the whole deck follows.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Each chapter walks one stretch of this chain. The nutritionist's job is to listen to the system in the right order.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Stages 1-3: eye, pile, chemist. Stages 4-7: requirements, balancing, digestibility, efficiency. Stages 8-9: sensors, rapid tests and weekly farm decisions. Data without interpretation is noise — judgment is not automated.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Worked example from Chapter 4: a 30% NDF ration with 60% of its NDF retained on the coarse sieve carries peNDF of about 18; the same chemistry at 25% retention is about 7.5.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curve is conceptual, as in Figure 9 of the book: supply is maximized where the marginal digestion gain and marginal intake loss trade evenly.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score of 4 in a fresh pen on day 3 of lactation is physiology, not pathology. Score sheets must carry group labels. The cow, the records and the separator outrank the dung heap when they disagree.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Two consequences: you do not feed the cow directly, you feed the microbes; and ecosystems have operating conditions — temperature, pH, osmolality, turnover and substrate rhythm — not just rations.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Precision means making better decisions from better biological information. Correct on a fixed rhythm with follow-up dates.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with the one-sentence version of the book.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1.xml"/><Relationship Id="rId1" Type="http://schemas.openxmlformats.org/officeDocument/2006/relationships/image" Target="../media/image-4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34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0" y="-822960"/>
            <a:ext cx="4754880" cy="4754880"/>
          </a:xfrm>
          <a:prstGeom prst="ellipse">
            <a:avLst/>
          </a:prstGeom>
          <a:solidFill>
            <a:srgbClr val="2F6B4F">
              <a:alpha val="45000"/>
            </a:srgbClr>
          </a:solidFill>
          <a:ln w="12700">
            <a:solidFill>
              <a:srgbClr val="2F6B4F">
                <a:alpha val="4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00800" y="0"/>
            <a:ext cx="3108960" cy="3108960"/>
          </a:xfrm>
          <a:prstGeom prst="ellipse">
            <a:avLst/>
          </a:prstGeom>
          <a:solidFill>
            <a:srgbClr val="6FA37F">
              <a:alpha val="45000"/>
            </a:srgbClr>
          </a:solidFill>
          <a:ln w="12700">
            <a:solidFill>
              <a:srgbClr val="6FA37F">
                <a:alpha val="4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086600" y="685800"/>
            <a:ext cx="1737360" cy="1737360"/>
          </a:xfrm>
          <a:prstGeom prst="ellipse">
            <a:avLst/>
          </a:prstGeom>
          <a:solidFill>
            <a:srgbClr val="E9A23B"/>
          </a:solidFill>
          <a:ln w="12700">
            <a:solidFill>
              <a:srgbClr val="E9A23B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52360" y="1051560"/>
            <a:ext cx="1005840" cy="100584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548640" y="6400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E9A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MODERN ANIMAL NUTRITION LIBRARY</a:t>
            </a:r>
            <a:endParaRPr lang="en-US" sz="11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1051560"/>
            <a:ext cx="59436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Ration</a:t>
            </a:r>
            <a:endParaRPr lang="en-US" sz="5200" dirty="0"/>
          </a:p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 Response</a:t>
            </a:r>
            <a:endParaRPr lang="en-US" sz="52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2788920"/>
            <a:ext cx="5303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DCEB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modern farm guide to fiber, manure, rumen function, digestibility, passage rate and precision ruminant nutrition</a:t>
            </a:r>
            <a:endParaRPr lang="en-US" sz="1500" dirty="0"/>
          </a:p>
        </p:txBody>
      </p:sp>
      <p:sp>
        <p:nvSpPr>
          <p:cNvPr id="9" name="Text 6"/>
          <p:cNvSpPr txBox="1"/>
          <p:nvPr/>
        </p:nvSpPr>
        <p:spPr>
          <a:xfrm>
            <a:off x="548640" y="36576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Prof. Mousa M. A.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548640" y="39319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FA3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Professor of Nutrition and Clinical Nutrition · Faculty of Veterinary Medicine, Sohag University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548640" y="4434840"/>
            <a:ext cx="914400" cy="274320"/>
          </a:xfrm>
          <a:prstGeom prst="roundRect">
            <a:avLst>
              <a:gd name="adj" fmla="val 26667"/>
            </a:avLst>
          </a:prstGeom>
          <a:solidFill>
            <a:srgbClr val="2F6B4F"/>
          </a:solidFill>
          <a:ln w="12700">
            <a:solidFill>
              <a:srgbClr val="2F6B4F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548640" y="44348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1554480" y="4434840"/>
            <a:ext cx="914400" cy="274320"/>
          </a:xfrm>
          <a:prstGeom prst="roundRect">
            <a:avLst>
              <a:gd name="adj" fmla="val 26667"/>
            </a:avLst>
          </a:prstGeom>
          <a:solidFill>
            <a:srgbClr val="2F6B4F"/>
          </a:solidFill>
          <a:ln w="12700">
            <a:solidFill>
              <a:srgbClr val="2F6B4F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1554480" y="44348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Particle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2560320" y="4434840"/>
            <a:ext cx="914400" cy="274320"/>
          </a:xfrm>
          <a:prstGeom prst="roundRect">
            <a:avLst>
              <a:gd name="adj" fmla="val 26667"/>
            </a:avLst>
          </a:prstGeom>
          <a:solidFill>
            <a:srgbClr val="2F6B4F"/>
          </a:solidFill>
          <a:ln w="12700">
            <a:solidFill>
              <a:srgbClr val="2F6B4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2560320" y="44348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Rumen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3566160" y="4434840"/>
            <a:ext cx="914400" cy="274320"/>
          </a:xfrm>
          <a:prstGeom prst="roundRect">
            <a:avLst>
              <a:gd name="adj" fmla="val 26667"/>
            </a:avLst>
          </a:prstGeom>
          <a:solidFill>
            <a:srgbClr val="2F6B4F"/>
          </a:solidFill>
          <a:ln w="12700">
            <a:solidFill>
              <a:srgbClr val="2F6B4F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3566160" y="44348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Digestion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4572000" y="4434840"/>
            <a:ext cx="914400" cy="274320"/>
          </a:xfrm>
          <a:prstGeom prst="roundRect">
            <a:avLst>
              <a:gd name="adj" fmla="val 26667"/>
            </a:avLst>
          </a:prstGeom>
          <a:solidFill>
            <a:srgbClr val="2F6B4F"/>
          </a:solidFill>
          <a:ln w="12700">
            <a:solidFill>
              <a:srgbClr val="2F6B4F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4572000" y="44348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Passage</a:t>
            </a:r>
            <a:endParaRPr lang="en-US" sz="1000" dirty="0"/>
          </a:p>
        </p:txBody>
      </p:sp>
      <p:sp>
        <p:nvSpPr>
          <p:cNvPr id="21" name="Shape 18"/>
          <p:cNvSpPr/>
          <p:nvPr/>
        </p:nvSpPr>
        <p:spPr>
          <a:xfrm>
            <a:off x="5577840" y="4434840"/>
            <a:ext cx="914400" cy="274320"/>
          </a:xfrm>
          <a:prstGeom prst="roundRect">
            <a:avLst>
              <a:gd name="adj" fmla="val 26667"/>
            </a:avLst>
          </a:prstGeom>
          <a:solidFill>
            <a:srgbClr val="2F6B4F"/>
          </a:solidFill>
          <a:ln w="12700">
            <a:solidFill>
              <a:srgbClr val="2F6B4F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5577840" y="44348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Manure</a:t>
            </a:r>
            <a:endParaRPr lang="en-US" sz="1000" dirty="0"/>
          </a:p>
        </p:txBody>
      </p:sp>
      <p:sp>
        <p:nvSpPr>
          <p:cNvPr id="23" name="Shape 20"/>
          <p:cNvSpPr/>
          <p:nvPr/>
        </p:nvSpPr>
        <p:spPr>
          <a:xfrm>
            <a:off x="6583680" y="4434840"/>
            <a:ext cx="914400" cy="274320"/>
          </a:xfrm>
          <a:prstGeom prst="roundRect">
            <a:avLst>
              <a:gd name="adj" fmla="val 26667"/>
            </a:avLst>
          </a:prstGeom>
          <a:solidFill>
            <a:srgbClr val="2F6B4F"/>
          </a:solidFill>
          <a:ln w="12700">
            <a:solidFill>
              <a:srgbClr val="2F6B4F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6583680" y="44348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Milk</a:t>
            </a:r>
            <a:endParaRPr lang="en-US" sz="1000" dirty="0"/>
          </a:p>
        </p:txBody>
      </p:sp>
      <p:sp>
        <p:nvSpPr>
          <p:cNvPr id="25" name="Shape 22"/>
          <p:cNvSpPr/>
          <p:nvPr/>
        </p:nvSpPr>
        <p:spPr>
          <a:xfrm>
            <a:off x="7589520" y="4434840"/>
            <a:ext cx="914400" cy="274320"/>
          </a:xfrm>
          <a:prstGeom prst="roundRect">
            <a:avLst>
              <a:gd name="adj" fmla="val 26667"/>
            </a:avLst>
          </a:prstGeom>
          <a:solidFill>
            <a:srgbClr val="E9A23B"/>
          </a:solidFill>
          <a:ln w="12700">
            <a:solidFill>
              <a:srgbClr val="E9A23B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7589520" y="44348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43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3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434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Central Idea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051560"/>
            <a:ext cx="7498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i="1" dirty="0">
                <a:solidFill>
                  <a:srgbClr val="2F6B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ration is only successful when the animal responds successfully.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2514600"/>
            <a:ext cx="868680" cy="731520"/>
          </a:xfrm>
          <a:prstGeom prst="roundRect">
            <a:avLst>
              <a:gd name="adj" fmla="val 12500"/>
            </a:avLst>
          </a:prstGeom>
          <a:solidFill>
            <a:srgbClr val="2F6B4F"/>
          </a:solidFill>
          <a:ln w="12700">
            <a:solidFill>
              <a:srgbClr val="2F6B4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457200" y="2514600"/>
            <a:ext cx="868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365760" y="3319272"/>
            <a:ext cx="1051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C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· analysis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1508760" y="2514600"/>
            <a:ext cx="868680" cy="731520"/>
          </a:xfrm>
          <a:prstGeom prst="roundRect">
            <a:avLst>
              <a:gd name="adj" fmla="val 12500"/>
            </a:avLst>
          </a:prstGeom>
          <a:solidFill>
            <a:srgbClr val="2F6B4F"/>
          </a:solidFill>
          <a:ln w="12700">
            <a:solidFill>
              <a:srgbClr val="2F6B4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1508760" y="2514600"/>
            <a:ext cx="868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PARTICLE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1417320" y="3319272"/>
            <a:ext cx="1051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C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size · sorting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560320" y="2514600"/>
            <a:ext cx="868680" cy="731520"/>
          </a:xfrm>
          <a:prstGeom prst="roundRect">
            <a:avLst>
              <a:gd name="adj" fmla="val 12500"/>
            </a:avLst>
          </a:prstGeom>
          <a:solidFill>
            <a:srgbClr val="2F6B4F"/>
          </a:solidFill>
          <a:ln w="12700">
            <a:solidFill>
              <a:srgbClr val="2F6B4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2560320" y="2514600"/>
            <a:ext cx="868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RUMEN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2468880" y="3319272"/>
            <a:ext cx="1051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C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fermentation · pH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611880" y="2514600"/>
            <a:ext cx="868680" cy="731520"/>
          </a:xfrm>
          <a:prstGeom prst="roundRect">
            <a:avLst>
              <a:gd name="adj" fmla="val 12500"/>
            </a:avLst>
          </a:prstGeom>
          <a:solidFill>
            <a:srgbClr val="2F6B4F"/>
          </a:solidFill>
          <a:ln w="12700">
            <a:solidFill>
              <a:srgbClr val="2F6B4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3611880" y="2514600"/>
            <a:ext cx="868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DIGESTION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3520440" y="3319272"/>
            <a:ext cx="1051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C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digestibility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663440" y="2514600"/>
            <a:ext cx="868680" cy="731520"/>
          </a:xfrm>
          <a:prstGeom prst="roundRect">
            <a:avLst>
              <a:gd name="adj" fmla="val 12500"/>
            </a:avLst>
          </a:prstGeom>
          <a:solidFill>
            <a:srgbClr val="2F6B4F"/>
          </a:solidFill>
          <a:ln w="12700">
            <a:solidFill>
              <a:srgbClr val="2F6B4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 txBox="1"/>
          <p:nvPr/>
        </p:nvSpPr>
        <p:spPr>
          <a:xfrm>
            <a:off x="4663440" y="2514600"/>
            <a:ext cx="868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PASSAGE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4572000" y="3319272"/>
            <a:ext cx="1051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C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 of flow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715000" y="2514600"/>
            <a:ext cx="868680" cy="731520"/>
          </a:xfrm>
          <a:prstGeom prst="roundRect">
            <a:avLst>
              <a:gd name="adj" fmla="val 12500"/>
            </a:avLst>
          </a:prstGeom>
          <a:solidFill>
            <a:srgbClr val="2F6B4F"/>
          </a:solidFill>
          <a:ln w="12700">
            <a:solidFill>
              <a:srgbClr val="2F6B4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 txBox="1"/>
          <p:nvPr/>
        </p:nvSpPr>
        <p:spPr>
          <a:xfrm>
            <a:off x="5715000" y="2514600"/>
            <a:ext cx="868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MANURE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5623560" y="3319272"/>
            <a:ext cx="1051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C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report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6766560" y="2514600"/>
            <a:ext cx="868680" cy="731520"/>
          </a:xfrm>
          <a:prstGeom prst="roundRect">
            <a:avLst>
              <a:gd name="adj" fmla="val 12500"/>
            </a:avLst>
          </a:prstGeom>
          <a:solidFill>
            <a:srgbClr val="2F6B4F"/>
          </a:solidFill>
          <a:ln w="12700">
            <a:solidFill>
              <a:srgbClr val="2F6B4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23" name="Text 21"/>
          <p:cNvSpPr txBox="1"/>
          <p:nvPr/>
        </p:nvSpPr>
        <p:spPr>
          <a:xfrm>
            <a:off x="6766560" y="2514600"/>
            <a:ext cx="868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MILK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6675120" y="3319272"/>
            <a:ext cx="1051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C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yield · components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7818120" y="2514600"/>
            <a:ext cx="868680" cy="731520"/>
          </a:xfrm>
          <a:prstGeom prst="roundRect">
            <a:avLst>
              <a:gd name="adj" fmla="val 12500"/>
            </a:avLst>
          </a:prstGeom>
          <a:solidFill>
            <a:srgbClr val="E9A23B"/>
          </a:solidFill>
          <a:ln w="12700">
            <a:solidFill>
              <a:srgbClr val="E9A23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26" name="Text 24"/>
          <p:cNvSpPr txBox="1"/>
          <p:nvPr/>
        </p:nvSpPr>
        <p:spPr>
          <a:xfrm>
            <a:off x="7818120" y="2514600"/>
            <a:ext cx="868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43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</a:t>
            </a:r>
            <a:endParaRPr lang="en-US" sz="1100" dirty="0"/>
          </a:p>
        </p:txBody>
      </p:sp>
      <p:sp>
        <p:nvSpPr>
          <p:cNvPr id="27" name="Text 25"/>
          <p:cNvSpPr txBox="1"/>
          <p:nvPr/>
        </p:nvSpPr>
        <p:spPr>
          <a:xfrm>
            <a:off x="7726680" y="3319272"/>
            <a:ext cx="1051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C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verdict</a:t>
            </a:r>
            <a:endParaRPr lang="en-US" sz="1000" dirty="0"/>
          </a:p>
        </p:txBody>
      </p:sp>
      <p:sp>
        <p:nvSpPr>
          <p:cNvPr id="28" name="Text 26"/>
          <p:cNvSpPr txBox="1"/>
          <p:nvPr/>
        </p:nvSpPr>
        <p:spPr>
          <a:xfrm>
            <a:off x="1325880" y="2514600"/>
            <a:ext cx="182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6FA3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000" dirty="0"/>
          </a:p>
        </p:txBody>
      </p:sp>
      <p:sp>
        <p:nvSpPr>
          <p:cNvPr id="29" name="Text 27"/>
          <p:cNvSpPr txBox="1"/>
          <p:nvPr/>
        </p:nvSpPr>
        <p:spPr>
          <a:xfrm>
            <a:off x="2377440" y="2514600"/>
            <a:ext cx="182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6FA3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000" dirty="0"/>
          </a:p>
        </p:txBody>
      </p:sp>
      <p:sp>
        <p:nvSpPr>
          <p:cNvPr id="30" name="Text 28"/>
          <p:cNvSpPr txBox="1"/>
          <p:nvPr/>
        </p:nvSpPr>
        <p:spPr>
          <a:xfrm>
            <a:off x="3429000" y="2514600"/>
            <a:ext cx="182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6FA3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000" dirty="0"/>
          </a:p>
        </p:txBody>
      </p:sp>
      <p:sp>
        <p:nvSpPr>
          <p:cNvPr id="31" name="Text 29"/>
          <p:cNvSpPr txBox="1"/>
          <p:nvPr/>
        </p:nvSpPr>
        <p:spPr>
          <a:xfrm>
            <a:off x="4480560" y="2514600"/>
            <a:ext cx="182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6FA3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000" dirty="0"/>
          </a:p>
        </p:txBody>
      </p:sp>
      <p:sp>
        <p:nvSpPr>
          <p:cNvPr id="32" name="Text 30"/>
          <p:cNvSpPr txBox="1"/>
          <p:nvPr/>
        </p:nvSpPr>
        <p:spPr>
          <a:xfrm>
            <a:off x="5532120" y="2514600"/>
            <a:ext cx="182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6FA3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000" dirty="0"/>
          </a:p>
        </p:txBody>
      </p:sp>
      <p:sp>
        <p:nvSpPr>
          <p:cNvPr id="33" name="Text 31"/>
          <p:cNvSpPr txBox="1"/>
          <p:nvPr/>
        </p:nvSpPr>
        <p:spPr>
          <a:xfrm>
            <a:off x="6583680" y="2514600"/>
            <a:ext cx="182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6FA3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000" dirty="0"/>
          </a:p>
        </p:txBody>
      </p:sp>
      <p:sp>
        <p:nvSpPr>
          <p:cNvPr id="34" name="Text 32"/>
          <p:cNvSpPr txBox="1"/>
          <p:nvPr/>
        </p:nvSpPr>
        <p:spPr>
          <a:xfrm>
            <a:off x="7635240" y="2514600"/>
            <a:ext cx="182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6FA3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000" dirty="0"/>
          </a:p>
        </p:txBody>
      </p:sp>
      <p:sp>
        <p:nvSpPr>
          <p:cNvPr id="35" name="Shape 33"/>
          <p:cNvSpPr/>
          <p:nvPr/>
        </p:nvSpPr>
        <p:spPr>
          <a:xfrm>
            <a:off x="457200" y="3931920"/>
            <a:ext cx="8229600" cy="594360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12700">
            <a:solidFill>
              <a:srgbClr val="DCEBDD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685800" y="3931920"/>
            <a:ext cx="7772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B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animals, bunk, TMR, rumen, dung heap, milk tank and records are not separate topics — they are one biological system reporting on itself.</a:t>
            </a:r>
            <a:endParaRPr lang="en-US" sz="1300" dirty="0"/>
          </a:p>
        </p:txBody>
      </p:sp>
      <p:sp>
        <p:nvSpPr>
          <p:cNvPr id="37" name="Text 35"/>
          <p:cNvSpPr txBox="1"/>
          <p:nvPr/>
        </p:nvSpPr>
        <p:spPr>
          <a:xfrm>
            <a:off x="457200" y="475488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Ration to Response  ·  Prof. Mousa M. A.</a:t>
            </a:r>
            <a:endParaRPr lang="en-US" sz="900" dirty="0"/>
          </a:p>
        </p:txBody>
      </p:sp>
      <p:sp>
        <p:nvSpPr>
          <p:cNvPr id="38" name="Text 36"/>
          <p:cNvSpPr txBox="1"/>
          <p:nvPr/>
        </p:nvSpPr>
        <p:spPr>
          <a:xfrm>
            <a:off x="8229600" y="475488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434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Nine Stages of Ruminant Nutrition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9144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C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stage replaced the one before it — modern practice is the sum of all nine layers.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463040"/>
            <a:ext cx="164592" cy="164592"/>
          </a:xfrm>
          <a:prstGeom prst="ellipse">
            <a:avLst/>
          </a:prstGeom>
          <a:solidFill>
            <a:srgbClr val="6FA37F"/>
          </a:solidFill>
          <a:ln w="12700">
            <a:solidFill>
              <a:srgbClr val="6FA37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13232" y="1389888"/>
            <a:ext cx="2377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B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Stages 1–3 gave the eye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200400" y="1463040"/>
            <a:ext cx="164592" cy="164592"/>
          </a:xfrm>
          <a:prstGeom prst="ellipse">
            <a:avLst/>
          </a:prstGeom>
          <a:solidFill>
            <a:srgbClr val="2F6B4F"/>
          </a:solidFill>
          <a:ln w="12700">
            <a:solidFill>
              <a:srgbClr val="2F6B4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3456432" y="1389888"/>
            <a:ext cx="2377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B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Stages 4–7 gave arithmetic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943600" y="1463040"/>
            <a:ext cx="164592" cy="164592"/>
          </a:xfrm>
          <a:prstGeom prst="ellipse">
            <a:avLst/>
          </a:prstGeom>
          <a:solidFill>
            <a:srgbClr val="E9A23B"/>
          </a:solidFill>
          <a:ln w="12700">
            <a:solidFill>
              <a:srgbClr val="E9A23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199632" y="1389888"/>
            <a:ext cx="2377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B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Stages 8–9 gave feedback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3657600"/>
            <a:ext cx="822960" cy="868680"/>
          </a:xfrm>
          <a:prstGeom prst="rect">
            <a:avLst/>
          </a:prstGeom>
          <a:solidFill>
            <a:srgbClr val="6FA37F"/>
          </a:solidFill>
          <a:ln w="12700">
            <a:solidFill>
              <a:srgbClr val="6FA37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57200" y="3730752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2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4114800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Traditional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appraisal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353312" y="3442716"/>
            <a:ext cx="822960" cy="1083564"/>
          </a:xfrm>
          <a:prstGeom prst="rect">
            <a:avLst/>
          </a:prstGeom>
          <a:solidFill>
            <a:srgbClr val="6FA37F"/>
          </a:solidFill>
          <a:ln w="12700">
            <a:solidFill>
              <a:srgbClr val="6FA37F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1353312" y="3515868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200" dirty="0"/>
          </a:p>
        </p:txBody>
      </p:sp>
      <p:sp>
        <p:nvSpPr>
          <p:cNvPr id="15" name="Text 13"/>
          <p:cNvSpPr txBox="1"/>
          <p:nvPr/>
        </p:nvSpPr>
        <p:spPr>
          <a:xfrm>
            <a:off x="1353312" y="3899916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Ingredients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2249424" y="3227832"/>
            <a:ext cx="822960" cy="1298448"/>
          </a:xfrm>
          <a:prstGeom prst="rect">
            <a:avLst/>
          </a:prstGeom>
          <a:solidFill>
            <a:srgbClr val="6FA37F"/>
          </a:solidFill>
          <a:ln w="12700">
            <a:solidFill>
              <a:srgbClr val="6FA37F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2249424" y="3300984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200" dirty="0"/>
          </a:p>
        </p:txBody>
      </p:sp>
      <p:sp>
        <p:nvSpPr>
          <p:cNvPr id="18" name="Text 16"/>
          <p:cNvSpPr txBox="1"/>
          <p:nvPr/>
        </p:nvSpPr>
        <p:spPr>
          <a:xfrm>
            <a:off x="2249424" y="3685032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Proximate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145536" y="3012948"/>
            <a:ext cx="822960" cy="1513332"/>
          </a:xfrm>
          <a:prstGeom prst="rect">
            <a:avLst/>
          </a:prstGeom>
          <a:solidFill>
            <a:srgbClr val="2F6B4F"/>
          </a:solidFill>
          <a:ln w="12700">
            <a:solidFill>
              <a:srgbClr val="2F6B4F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3145536" y="3086100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200" dirty="0"/>
          </a:p>
        </p:txBody>
      </p:sp>
      <p:sp>
        <p:nvSpPr>
          <p:cNvPr id="21" name="Text 19"/>
          <p:cNvSpPr txBox="1"/>
          <p:nvPr/>
        </p:nvSpPr>
        <p:spPr>
          <a:xfrm>
            <a:off x="3145536" y="3470148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Energy &amp;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protein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041648" y="2798064"/>
            <a:ext cx="822960" cy="1728216"/>
          </a:xfrm>
          <a:prstGeom prst="rect">
            <a:avLst/>
          </a:prstGeom>
          <a:solidFill>
            <a:srgbClr val="2F6B4F"/>
          </a:solidFill>
          <a:ln w="12700">
            <a:solidFill>
              <a:srgbClr val="2F6B4F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4041648" y="2871216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200" dirty="0"/>
          </a:p>
        </p:txBody>
      </p:sp>
      <p:sp>
        <p:nvSpPr>
          <p:cNvPr id="24" name="Text 22"/>
          <p:cNvSpPr txBox="1"/>
          <p:nvPr/>
        </p:nvSpPr>
        <p:spPr>
          <a:xfrm>
            <a:off x="4041648" y="3255264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Rumen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937760" y="2583180"/>
            <a:ext cx="822960" cy="1943100"/>
          </a:xfrm>
          <a:prstGeom prst="rect">
            <a:avLst/>
          </a:prstGeom>
          <a:solidFill>
            <a:srgbClr val="2F6B4F"/>
          </a:solidFill>
          <a:ln w="12700">
            <a:solidFill>
              <a:srgbClr val="2F6B4F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4937760" y="2656332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2200" dirty="0"/>
          </a:p>
        </p:txBody>
      </p:sp>
      <p:sp>
        <p:nvSpPr>
          <p:cNvPr id="27" name="Text 25"/>
          <p:cNvSpPr txBox="1"/>
          <p:nvPr/>
        </p:nvSpPr>
        <p:spPr>
          <a:xfrm>
            <a:off x="4937760" y="3040380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Digest-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ibility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5833872" y="2368296"/>
            <a:ext cx="822960" cy="2157984"/>
          </a:xfrm>
          <a:prstGeom prst="rect">
            <a:avLst/>
          </a:prstGeom>
          <a:solidFill>
            <a:srgbClr val="2F6B4F"/>
          </a:solidFill>
          <a:ln w="12700">
            <a:solidFill>
              <a:srgbClr val="2F6B4F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5833872" y="2441448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2200" dirty="0"/>
          </a:p>
        </p:txBody>
      </p:sp>
      <p:sp>
        <p:nvSpPr>
          <p:cNvPr id="30" name="Text 28"/>
          <p:cNvSpPr txBox="1"/>
          <p:nvPr/>
        </p:nvSpPr>
        <p:spPr>
          <a:xfrm>
            <a:off x="5833872" y="2825496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efficiency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6729984" y="2153412"/>
            <a:ext cx="822960" cy="2372868"/>
          </a:xfrm>
          <a:prstGeom prst="rect">
            <a:avLst/>
          </a:prstGeom>
          <a:solidFill>
            <a:srgbClr val="E9A23B"/>
          </a:solidFill>
          <a:ln w="12700">
            <a:solidFill>
              <a:srgbClr val="E9A23B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6729984" y="2226564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434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2200" dirty="0"/>
          </a:p>
        </p:txBody>
      </p:sp>
      <p:sp>
        <p:nvSpPr>
          <p:cNvPr id="33" name="Text 31"/>
          <p:cNvSpPr txBox="1"/>
          <p:nvPr/>
        </p:nvSpPr>
        <p:spPr>
          <a:xfrm>
            <a:off x="6729984" y="2610612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43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143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nutrition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7626096" y="1938528"/>
            <a:ext cx="822960" cy="2587752"/>
          </a:xfrm>
          <a:prstGeom prst="rect">
            <a:avLst/>
          </a:prstGeom>
          <a:solidFill>
            <a:srgbClr val="E9A23B"/>
          </a:solidFill>
          <a:ln w="12700">
            <a:solidFill>
              <a:srgbClr val="E9A23B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7626096" y="2011680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434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</a:t>
            </a:r>
            <a:endParaRPr lang="en-US" sz="2200" dirty="0"/>
          </a:p>
        </p:txBody>
      </p:sp>
      <p:sp>
        <p:nvSpPr>
          <p:cNvPr id="36" name="Text 34"/>
          <p:cNvSpPr txBox="1"/>
          <p:nvPr/>
        </p:nvSpPr>
        <p:spPr>
          <a:xfrm>
            <a:off x="7626096" y="2395728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43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143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decisions</a:t>
            </a:r>
            <a:endParaRPr lang="en-US" sz="1000" dirty="0"/>
          </a:p>
        </p:txBody>
      </p:sp>
      <p:sp>
        <p:nvSpPr>
          <p:cNvPr id="37" name="Text 35"/>
          <p:cNvSpPr txBox="1"/>
          <p:nvPr/>
        </p:nvSpPr>
        <p:spPr>
          <a:xfrm>
            <a:off x="457200" y="475488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Ration to Response  ·  Prof. Mousa M. A.</a:t>
            </a:r>
            <a:endParaRPr lang="en-US" sz="900" dirty="0"/>
          </a:p>
        </p:txBody>
      </p:sp>
      <p:sp>
        <p:nvSpPr>
          <p:cNvPr id="38" name="Text 36"/>
          <p:cNvSpPr txBox="1"/>
          <p:nvPr/>
        </p:nvSpPr>
        <p:spPr>
          <a:xfrm>
            <a:off x="8229600" y="475488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3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434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Fiber Is More Than NDF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143000"/>
            <a:ext cx="640080" cy="640080"/>
          </a:xfrm>
          <a:prstGeom prst="ellipse">
            <a:avLst/>
          </a:prstGeom>
          <a:solidFill>
            <a:srgbClr val="2F6B4F"/>
          </a:solidFill>
          <a:ln w="12700">
            <a:solidFill>
              <a:srgbClr val="2F6B4F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7220" y="1303020"/>
            <a:ext cx="320040" cy="32004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280160" y="1097280"/>
            <a:ext cx="3017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B2B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Physically effective NDF (peNDF) defines fiber by what it does: stimulate chewing and protect rumen conditions.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457200" y="2103120"/>
            <a:ext cx="3840480" cy="914400"/>
          </a:xfrm>
          <a:prstGeom prst="roundRect">
            <a:avLst>
              <a:gd name="adj" fmla="val 10000"/>
            </a:avLst>
          </a:prstGeom>
          <a:solidFill>
            <a:srgbClr val="14342B"/>
          </a:solidFill>
          <a:ln w="12700">
            <a:solidFill>
              <a:srgbClr val="14342B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457200" y="2103120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peNDF = NDF (%) × pEF</a:t>
            </a:r>
            <a:endParaRPr lang="en-US" sz="2200" dirty="0"/>
          </a:p>
        </p:txBody>
      </p:sp>
      <p:sp>
        <p:nvSpPr>
          <p:cNvPr id="8" name="Text 5"/>
          <p:cNvSpPr txBox="1"/>
          <p:nvPr/>
        </p:nvSpPr>
        <p:spPr>
          <a:xfrm>
            <a:off x="457200" y="260604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DCEB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pEF = share of NDF retained on the coarse sieve</a:t>
            </a:r>
            <a:endParaRPr lang="en-US" sz="1200" dirty="0"/>
          </a:p>
        </p:txBody>
      </p:sp>
      <p:sp>
        <p:nvSpPr>
          <p:cNvPr id="9" name="Text 6"/>
          <p:cNvSpPr txBox="1"/>
          <p:nvPr/>
        </p:nvSpPr>
        <p:spPr>
          <a:xfrm>
            <a:off x="457200" y="3246120"/>
            <a:ext cx="3840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B2B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number on the analysis sheet,</a:t>
            </a: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rgbClr val="2F6B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different animal at the bunk.</a:t>
            </a:r>
            <a:endParaRPr lang="en-US" sz="1500" dirty="0"/>
          </a:p>
        </p:txBody>
      </p:sp>
      <p:sp>
        <p:nvSpPr>
          <p:cNvPr id="10" name="Text 7"/>
          <p:cNvSpPr txBox="1"/>
          <p:nvPr/>
        </p:nvSpPr>
        <p:spPr>
          <a:xfrm>
            <a:off x="457200" y="4023360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5C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Values compare only within one separator system — pair the number with chewing observation.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4572000" y="1097280"/>
            <a:ext cx="4114800" cy="3429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2700">
            <a:solidFill>
              <a:srgbClr val="DCEBDD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4754880" y="118872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34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rations, both 30% NDF</a:t>
            </a:r>
            <a:endParaRPr lang="en-US" sz="1500" dirty="0"/>
          </a:p>
        </p:txBody>
      </p:sp>
      <p:graphicFrame>
        <p:nvGraphicFramePr>
          <p:cNvPr id="13" name="Chart 0" descr=""/>
          <p:cNvGraphicFramePr/>
          <p:nvPr/>
        </p:nvGraphicFramePr>
        <p:xfrm>
          <a:off x="4663440" y="1554480"/>
          <a:ext cx="3931920" cy="28803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4" name="Text 10"/>
          <p:cNvSpPr txBox="1"/>
          <p:nvPr/>
        </p:nvSpPr>
        <p:spPr>
          <a:xfrm>
            <a:off x="457200" y="475488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Ration to Response  ·  Prof. Mousa M. A.</a:t>
            </a:r>
            <a:endParaRPr lang="en-US" sz="900" dirty="0"/>
          </a:p>
        </p:txBody>
      </p:sp>
      <p:sp>
        <p:nvSpPr>
          <p:cNvPr id="15" name="Text 11"/>
          <p:cNvSpPr txBox="1"/>
          <p:nvPr/>
        </p:nvSpPr>
        <p:spPr>
          <a:xfrm>
            <a:off x="8229600" y="475488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434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Passage Rate: The Clock of the Rumen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1188720" cy="594360"/>
          </a:xfrm>
          <a:prstGeom prst="roundRect">
            <a:avLst>
              <a:gd name="adj" fmla="val 15385"/>
            </a:avLst>
          </a:prstGeom>
          <a:solidFill>
            <a:srgbClr val="2F6B4F"/>
          </a:solidFill>
          <a:ln w="12700">
            <a:solidFill>
              <a:srgbClr val="2F6B4F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1188720"/>
            <a:ext cx="1188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Eating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1645920" y="1188720"/>
            <a:ext cx="2194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6FA3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1865376" y="1188720"/>
            <a:ext cx="1188720" cy="594360"/>
          </a:xfrm>
          <a:prstGeom prst="roundRect">
            <a:avLst>
              <a:gd name="adj" fmla="val 15385"/>
            </a:avLst>
          </a:prstGeom>
          <a:solidFill>
            <a:srgbClr val="2F6B4F"/>
          </a:solidFill>
          <a:ln w="12700">
            <a:solidFill>
              <a:srgbClr val="2F6B4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865376" y="1188720"/>
            <a:ext cx="1188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Rumen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retention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3054096" y="1188720"/>
            <a:ext cx="2194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6FA3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3273552" y="1188720"/>
            <a:ext cx="1188720" cy="594360"/>
          </a:xfrm>
          <a:prstGeom prst="roundRect">
            <a:avLst>
              <a:gd name="adj" fmla="val 15385"/>
            </a:avLst>
          </a:prstGeom>
          <a:solidFill>
            <a:srgbClr val="2F6B4F"/>
          </a:solidFill>
          <a:ln w="12700">
            <a:solidFill>
              <a:srgbClr val="2F6B4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273552" y="1188720"/>
            <a:ext cx="1188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Digestion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4462272" y="1188720"/>
            <a:ext cx="2194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6FA3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4681728" y="1188720"/>
            <a:ext cx="1188720" cy="594360"/>
          </a:xfrm>
          <a:prstGeom prst="roundRect">
            <a:avLst>
              <a:gd name="adj" fmla="val 15385"/>
            </a:avLst>
          </a:prstGeom>
          <a:solidFill>
            <a:srgbClr val="2F6B4F"/>
          </a:solidFill>
          <a:ln w="12700">
            <a:solidFill>
              <a:srgbClr val="2F6B4F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681728" y="1188720"/>
            <a:ext cx="1188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Particle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escape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5870448" y="1188720"/>
            <a:ext cx="2194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6FA3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000" dirty="0"/>
          </a:p>
        </p:txBody>
      </p:sp>
      <p:sp>
        <p:nvSpPr>
          <p:cNvPr id="15" name="Shape 13"/>
          <p:cNvSpPr/>
          <p:nvPr/>
        </p:nvSpPr>
        <p:spPr>
          <a:xfrm>
            <a:off x="6089904" y="1188720"/>
            <a:ext cx="1188720" cy="594360"/>
          </a:xfrm>
          <a:prstGeom prst="roundRect">
            <a:avLst>
              <a:gd name="adj" fmla="val 15385"/>
            </a:avLst>
          </a:prstGeom>
          <a:solidFill>
            <a:srgbClr val="2F6B4F"/>
          </a:solidFill>
          <a:ln w="12700">
            <a:solidFill>
              <a:srgbClr val="2F6B4F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089904" y="1188720"/>
            <a:ext cx="1188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Intestine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7278624" y="1188720"/>
            <a:ext cx="2194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6FA3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000" dirty="0"/>
          </a:p>
        </p:txBody>
      </p:sp>
      <p:sp>
        <p:nvSpPr>
          <p:cNvPr id="18" name="Shape 16"/>
          <p:cNvSpPr/>
          <p:nvPr/>
        </p:nvSpPr>
        <p:spPr>
          <a:xfrm>
            <a:off x="7498080" y="1188720"/>
            <a:ext cx="1188720" cy="594360"/>
          </a:xfrm>
          <a:prstGeom prst="roundRect">
            <a:avLst>
              <a:gd name="adj" fmla="val 15385"/>
            </a:avLst>
          </a:prstGeom>
          <a:solidFill>
            <a:srgbClr val="2F6B4F"/>
          </a:solidFill>
          <a:ln w="12700">
            <a:solidFill>
              <a:srgbClr val="2F6B4F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7498080" y="1188720"/>
            <a:ext cx="1188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Feces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57200" y="2103120"/>
            <a:ext cx="2331720" cy="2423160"/>
          </a:xfrm>
          <a:prstGeom prst="roundRect">
            <a:avLst>
              <a:gd name="adj" fmla="val 4706"/>
            </a:avLst>
          </a:prstGeom>
          <a:solidFill>
            <a:srgbClr val="F3F7F2"/>
          </a:solidFill>
          <a:ln w="12700">
            <a:solidFill>
              <a:srgbClr val="DCEBDD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40080" y="2212848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F6B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Slow passage</a:t>
            </a:r>
            <a:endParaRPr lang="en-US" sz="1700" dirty="0"/>
          </a:p>
        </p:txBody>
      </p:sp>
      <p:sp>
        <p:nvSpPr>
          <p:cNvPr id="22" name="Text 20"/>
          <p:cNvSpPr txBox="1"/>
          <p:nvPr/>
        </p:nvSpPr>
        <p:spPr>
          <a:xfrm>
            <a:off x="640080" y="2651760"/>
            <a:ext cx="1965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B2B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digestion per gram of feed…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640080" y="3520440"/>
            <a:ext cx="1965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5C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…but fill limits intake.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6355080" y="2103120"/>
            <a:ext cx="2331720" cy="2423160"/>
          </a:xfrm>
          <a:prstGeom prst="roundRect">
            <a:avLst>
              <a:gd name="adj" fmla="val 4706"/>
            </a:avLst>
          </a:prstGeom>
          <a:solidFill>
            <a:srgbClr val="F3F7F2"/>
          </a:solidFill>
          <a:ln w="12700">
            <a:solidFill>
              <a:srgbClr val="DCEBDD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6537960" y="2212848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B874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Fast passage</a:t>
            </a:r>
            <a:endParaRPr lang="en-US" sz="1700" dirty="0"/>
          </a:p>
        </p:txBody>
      </p:sp>
      <p:sp>
        <p:nvSpPr>
          <p:cNvPr id="26" name="Text 24"/>
          <p:cNvSpPr txBox="1"/>
          <p:nvPr/>
        </p:nvSpPr>
        <p:spPr>
          <a:xfrm>
            <a:off x="6537960" y="2651760"/>
            <a:ext cx="1965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B2B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intake capacity…</a:t>
            </a:r>
            <a:endParaRPr lang="en-US" sz="1500" dirty="0"/>
          </a:p>
        </p:txBody>
      </p:sp>
      <p:sp>
        <p:nvSpPr>
          <p:cNvPr id="27" name="Text 25"/>
          <p:cNvSpPr txBox="1"/>
          <p:nvPr/>
        </p:nvSpPr>
        <p:spPr>
          <a:xfrm>
            <a:off x="6537960" y="3520440"/>
            <a:ext cx="1965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5C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…but digestion per gram falls.</a:t>
            </a:r>
            <a:endParaRPr lang="en-US" sz="1500" dirty="0"/>
          </a:p>
        </p:txBody>
      </p:sp>
      <p:graphicFrame>
        <p:nvGraphicFramePr>
          <p:cNvPr id="28" name="Chart 0" descr=""/>
          <p:cNvGraphicFramePr/>
          <p:nvPr/>
        </p:nvGraphicFramePr>
        <p:xfrm>
          <a:off x="2880360" y="2423160"/>
          <a:ext cx="3383280" cy="14630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9" name="Text 26"/>
          <p:cNvSpPr txBox="1"/>
          <p:nvPr/>
        </p:nvSpPr>
        <p:spPr>
          <a:xfrm>
            <a:off x="2880360" y="210312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34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Nutrient supply (conceptual)</a:t>
            </a:r>
            <a:endParaRPr lang="en-US" sz="1400" dirty="0"/>
          </a:p>
        </p:txBody>
      </p:sp>
      <p:sp>
        <p:nvSpPr>
          <p:cNvPr id="30" name="Text 27"/>
          <p:cNvSpPr txBox="1"/>
          <p:nvPr/>
        </p:nvSpPr>
        <p:spPr>
          <a:xfrm>
            <a:off x="3017520" y="38404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F6B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slow</a:t>
            </a:r>
            <a:endParaRPr lang="en-US" sz="1100" dirty="0"/>
          </a:p>
        </p:txBody>
      </p:sp>
      <p:sp>
        <p:nvSpPr>
          <p:cNvPr id="31" name="Text 28"/>
          <p:cNvSpPr txBox="1"/>
          <p:nvPr/>
        </p:nvSpPr>
        <p:spPr>
          <a:xfrm>
            <a:off x="5212080" y="38404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B87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</a:t>
            </a:r>
            <a:endParaRPr lang="en-US" sz="1100" dirty="0"/>
          </a:p>
        </p:txBody>
      </p:sp>
      <p:sp>
        <p:nvSpPr>
          <p:cNvPr id="32" name="Text 29"/>
          <p:cNvSpPr txBox="1"/>
          <p:nvPr/>
        </p:nvSpPr>
        <p:spPr>
          <a:xfrm>
            <a:off x="2880360" y="4114800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C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Nutrient supply peaks at the balance — not the fastest, not the slowest.</a:t>
            </a:r>
            <a:endParaRPr lang="en-US" sz="1100" dirty="0"/>
          </a:p>
        </p:txBody>
      </p:sp>
      <p:sp>
        <p:nvSpPr>
          <p:cNvPr id="33" name="Text 30"/>
          <p:cNvSpPr txBox="1"/>
          <p:nvPr/>
        </p:nvSpPr>
        <p:spPr>
          <a:xfrm>
            <a:off x="457200" y="475488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Ration to Response  ·  Prof. Mousa M. A.</a:t>
            </a:r>
            <a:endParaRPr lang="en-US" sz="900" dirty="0"/>
          </a:p>
        </p:txBody>
      </p:sp>
      <p:sp>
        <p:nvSpPr>
          <p:cNvPr id="34" name="Text 31"/>
          <p:cNvSpPr txBox="1"/>
          <p:nvPr/>
        </p:nvSpPr>
        <p:spPr>
          <a:xfrm>
            <a:off x="8229600" y="475488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3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434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Manure: The Farm's Biological Report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9144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C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1-to-5 consistency scale, ten seconds per group, same walk, same person.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600200"/>
            <a:ext cx="1517904" cy="1234440"/>
          </a:xfrm>
          <a:prstGeom prst="roundRect">
            <a:avLst>
              <a:gd name="adj" fmla="val 8889"/>
            </a:avLst>
          </a:prstGeom>
          <a:solidFill>
            <a:srgbClr val="5A3E2B"/>
          </a:solidFill>
          <a:ln w="12700">
            <a:solidFill>
              <a:srgbClr val="5A3E2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57200" y="1645920"/>
            <a:ext cx="151790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40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2331720"/>
            <a:ext cx="15179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Very firm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2135124" y="1600200"/>
            <a:ext cx="1517904" cy="1234440"/>
          </a:xfrm>
          <a:prstGeom prst="roundRect">
            <a:avLst>
              <a:gd name="adj" fmla="val 8889"/>
            </a:avLst>
          </a:prstGeom>
          <a:solidFill>
            <a:srgbClr val="7A5A3A"/>
          </a:solidFill>
          <a:ln w="12700">
            <a:solidFill>
              <a:srgbClr val="7A5A3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2135124" y="1645920"/>
            <a:ext cx="151790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4000" dirty="0"/>
          </a:p>
        </p:txBody>
      </p:sp>
      <p:sp>
        <p:nvSpPr>
          <p:cNvPr id="9" name="Text 7"/>
          <p:cNvSpPr txBox="1"/>
          <p:nvPr/>
        </p:nvSpPr>
        <p:spPr>
          <a:xfrm>
            <a:off x="2135124" y="2331720"/>
            <a:ext cx="15179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Firm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3813048" y="1600200"/>
            <a:ext cx="1517904" cy="1234440"/>
          </a:xfrm>
          <a:prstGeom prst="roundRect">
            <a:avLst>
              <a:gd name="adj" fmla="val 8889"/>
            </a:avLst>
          </a:prstGeom>
          <a:solidFill>
            <a:srgbClr val="9C7A4C"/>
          </a:solidFill>
          <a:ln w="12700">
            <a:solidFill>
              <a:srgbClr val="9C7A4C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813048" y="1645920"/>
            <a:ext cx="151790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4000" dirty="0"/>
          </a:p>
        </p:txBody>
      </p:sp>
      <p:sp>
        <p:nvSpPr>
          <p:cNvPr id="12" name="Text 10"/>
          <p:cNvSpPr txBox="1"/>
          <p:nvPr/>
        </p:nvSpPr>
        <p:spPr>
          <a:xfrm>
            <a:off x="3813048" y="2331720"/>
            <a:ext cx="15179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490972" y="1600200"/>
            <a:ext cx="1517904" cy="1234440"/>
          </a:xfrm>
          <a:prstGeom prst="roundRect">
            <a:avLst>
              <a:gd name="adj" fmla="val 8889"/>
            </a:avLst>
          </a:prstGeom>
          <a:solidFill>
            <a:srgbClr val="C9AE74"/>
          </a:solidFill>
          <a:ln w="12700">
            <a:solidFill>
              <a:srgbClr val="C9AE74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490972" y="1645920"/>
            <a:ext cx="151790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1B2B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4000" dirty="0"/>
          </a:p>
        </p:txBody>
      </p:sp>
      <p:sp>
        <p:nvSpPr>
          <p:cNvPr id="15" name="Text 13"/>
          <p:cNvSpPr txBox="1"/>
          <p:nvPr/>
        </p:nvSpPr>
        <p:spPr>
          <a:xfrm>
            <a:off x="5490972" y="2331720"/>
            <a:ext cx="15179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2B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Loose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7168896" y="1600200"/>
            <a:ext cx="1517904" cy="1234440"/>
          </a:xfrm>
          <a:prstGeom prst="roundRect">
            <a:avLst>
              <a:gd name="adj" fmla="val 8889"/>
            </a:avLst>
          </a:prstGeom>
          <a:solidFill>
            <a:srgbClr val="E0D2A8"/>
          </a:solidFill>
          <a:ln w="12700">
            <a:solidFill>
              <a:srgbClr val="E0D2A8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168896" y="1645920"/>
            <a:ext cx="151790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1B2B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4000" dirty="0"/>
          </a:p>
        </p:txBody>
      </p:sp>
      <p:sp>
        <p:nvSpPr>
          <p:cNvPr id="18" name="Text 16"/>
          <p:cNvSpPr txBox="1"/>
          <p:nvPr/>
        </p:nvSpPr>
        <p:spPr>
          <a:xfrm>
            <a:off x="7168896" y="2331720"/>
            <a:ext cx="15179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2B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Watery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2135124" y="2907792"/>
            <a:ext cx="15179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F6B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dry-cow target</a:t>
            </a:r>
            <a:endParaRPr lang="en-US" sz="1100" dirty="0"/>
          </a:p>
        </p:txBody>
      </p:sp>
      <p:sp>
        <p:nvSpPr>
          <p:cNvPr id="20" name="Text 18"/>
          <p:cNvSpPr txBox="1"/>
          <p:nvPr/>
        </p:nvSpPr>
        <p:spPr>
          <a:xfrm>
            <a:off x="3721608" y="2907792"/>
            <a:ext cx="17007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F6B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classic milking target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5399532" y="2907792"/>
            <a:ext cx="33787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B87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 flux — read with rumination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57200" y="3383280"/>
            <a:ext cx="4023360" cy="118872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CEBDD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40080" y="3703320"/>
            <a:ext cx="548640" cy="548640"/>
          </a:xfrm>
          <a:prstGeom prst="ellipse">
            <a:avLst/>
          </a:prstGeom>
          <a:solidFill>
            <a:srgbClr val="2F6B4F"/>
          </a:solidFill>
          <a:ln w="12700">
            <a:solidFill>
              <a:srgbClr val="2F6B4F"/>
            </a:solidFill>
            <a:prstDash val="solid"/>
          </a:ln>
        </p:spPr>
      </p:sp>
      <p:pic>
        <p:nvPicPr>
          <p:cNvPr id="2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3840480"/>
            <a:ext cx="274320" cy="274320"/>
          </a:xfrm>
          <a:prstGeom prst="rect">
            <a:avLst/>
          </a:prstGeom>
        </p:spPr>
      </p:pic>
      <p:sp>
        <p:nvSpPr>
          <p:cNvPr id="25" name="Text 22"/>
          <p:cNvSpPr txBox="1"/>
          <p:nvPr/>
        </p:nvSpPr>
        <p:spPr>
          <a:xfrm>
            <a:off x="1371600" y="3474720"/>
            <a:ext cx="3017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3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particle questions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B2B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Flecks? Long forage fibers visible.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B2B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Grain? Intact kernels visible.</a:t>
            </a:r>
            <a:endParaRPr lang="en-US" sz="1300" dirty="0"/>
          </a:p>
        </p:txBody>
      </p:sp>
      <p:sp>
        <p:nvSpPr>
          <p:cNvPr id="26" name="Shape 23"/>
          <p:cNvSpPr/>
          <p:nvPr/>
        </p:nvSpPr>
        <p:spPr>
          <a:xfrm>
            <a:off x="4663440" y="3383280"/>
            <a:ext cx="4023360" cy="1188720"/>
          </a:xfrm>
          <a:prstGeom prst="roundRect">
            <a:avLst>
              <a:gd name="adj" fmla="val 7692"/>
            </a:avLst>
          </a:prstGeom>
          <a:solidFill>
            <a:srgbClr val="14342B"/>
          </a:solidFill>
          <a:ln w="12700">
            <a:solidFill>
              <a:srgbClr val="14342B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4846320" y="3474720"/>
            <a:ext cx="3657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9A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clue generator, not a verdict machine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group-relative — trend beats a single reading.</a:t>
            </a:r>
            <a:endParaRPr lang="en-US" sz="1300" dirty="0"/>
          </a:p>
        </p:txBody>
      </p:sp>
      <p:sp>
        <p:nvSpPr>
          <p:cNvPr id="28" name="Text 25"/>
          <p:cNvSpPr txBox="1"/>
          <p:nvPr/>
        </p:nvSpPr>
        <p:spPr>
          <a:xfrm>
            <a:off x="457200" y="475488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Ration to Response  ·  Prof. Mousa M. A.</a:t>
            </a:r>
            <a:endParaRPr lang="en-US" sz="900" dirty="0"/>
          </a:p>
        </p:txBody>
      </p:sp>
      <p:sp>
        <p:nvSpPr>
          <p:cNvPr id="29" name="Text 26"/>
          <p:cNvSpPr txBox="1"/>
          <p:nvPr/>
        </p:nvSpPr>
        <p:spPr>
          <a:xfrm>
            <a:off x="8229600" y="475488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434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Rumen: An Ecosystem, Not a Tank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9144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E9A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 the microbes first — the cow eats their output.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645920"/>
            <a:ext cx="640080" cy="640080"/>
          </a:xfrm>
          <a:prstGeom prst="ellipse">
            <a:avLst/>
          </a:prstGeom>
          <a:solidFill>
            <a:srgbClr val="2F6B4F"/>
          </a:solidFill>
          <a:ln w="12700">
            <a:solidFill>
              <a:srgbClr val="2F6B4F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7220" y="1805940"/>
            <a:ext cx="320040" cy="32004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280160" y="155448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Bacteria</a:t>
            </a:r>
            <a:endParaRPr lang="en-US" sz="1700" dirty="0"/>
          </a:p>
        </p:txBody>
      </p:sp>
      <p:sp>
        <p:nvSpPr>
          <p:cNvPr id="7" name="Text 4"/>
          <p:cNvSpPr txBox="1"/>
          <p:nvPr/>
        </p:nvSpPr>
        <p:spPr>
          <a:xfrm>
            <a:off x="1280160" y="1883664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DCEB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Fiber, starch and protein lanes — the dominant workforce.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457200" y="2670048"/>
            <a:ext cx="640080" cy="640080"/>
          </a:xfrm>
          <a:prstGeom prst="ellipse">
            <a:avLst/>
          </a:prstGeom>
          <a:solidFill>
            <a:srgbClr val="2F6B4F"/>
          </a:solidFill>
          <a:ln w="12700">
            <a:solidFill>
              <a:srgbClr val="2F6B4F"/>
            </a:solidFill>
            <a:prstDash val="solid"/>
          </a:ln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7220" y="2830068"/>
            <a:ext cx="320040" cy="320040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1280160" y="2578608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Protozoa</a:t>
            </a:r>
            <a:endParaRPr lang="en-US" sz="1700" dirty="0"/>
          </a:p>
        </p:txBody>
      </p:sp>
      <p:sp>
        <p:nvSpPr>
          <p:cNvPr id="11" name="Text 7"/>
          <p:cNvSpPr txBox="1"/>
          <p:nvPr/>
        </p:nvSpPr>
        <p:spPr>
          <a:xfrm>
            <a:off x="1280160" y="2907792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DCEB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Engulf starch and bacteria; moderate pace and recycle nitrogen.</a:t>
            </a:r>
            <a:endParaRPr lang="en-US" sz="1200" dirty="0"/>
          </a:p>
        </p:txBody>
      </p:sp>
      <p:sp>
        <p:nvSpPr>
          <p:cNvPr id="12" name="Shape 8"/>
          <p:cNvSpPr/>
          <p:nvPr/>
        </p:nvSpPr>
        <p:spPr>
          <a:xfrm>
            <a:off x="457200" y="3694176"/>
            <a:ext cx="640080" cy="640080"/>
          </a:xfrm>
          <a:prstGeom prst="ellipse">
            <a:avLst/>
          </a:prstGeom>
          <a:solidFill>
            <a:srgbClr val="2F6B4F"/>
          </a:solidFill>
          <a:ln w="12700">
            <a:solidFill>
              <a:srgbClr val="2F6B4F"/>
            </a:solidFill>
            <a:prstDash val="solid"/>
          </a:ln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220" y="3854196"/>
            <a:ext cx="320040" cy="320040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1280160" y="3602736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Fungi</a:t>
            </a:r>
            <a:endParaRPr lang="en-US" sz="1700" dirty="0"/>
          </a:p>
        </p:txBody>
      </p:sp>
      <p:sp>
        <p:nvSpPr>
          <p:cNvPr id="15" name="Text 10"/>
          <p:cNvSpPr txBox="1"/>
          <p:nvPr/>
        </p:nvSpPr>
        <p:spPr>
          <a:xfrm>
            <a:off x="1280160" y="3931920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DCEB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Colonize coarse fragments and weaken tissue for bacteria.</a:t>
            </a:r>
            <a:endParaRPr lang="en-US" sz="1200" dirty="0"/>
          </a:p>
        </p:txBody>
      </p:sp>
      <p:sp>
        <p:nvSpPr>
          <p:cNvPr id="16" name="Shape 11"/>
          <p:cNvSpPr/>
          <p:nvPr/>
        </p:nvSpPr>
        <p:spPr>
          <a:xfrm>
            <a:off x="4480560" y="1554480"/>
            <a:ext cx="2011680" cy="1325880"/>
          </a:xfrm>
          <a:prstGeom prst="roundRect">
            <a:avLst>
              <a:gd name="adj" fmla="val 8276"/>
            </a:avLst>
          </a:prstGeom>
          <a:solidFill>
            <a:srgbClr val="2F6B4F">
              <a:alpha val="75000"/>
            </a:srgbClr>
          </a:solidFill>
          <a:ln w="12700">
            <a:solidFill>
              <a:srgbClr val="6FA37F"/>
            </a:solidFill>
            <a:prstDash val="solid"/>
          </a:ln>
        </p:spPr>
      </p:sp>
      <p:sp>
        <p:nvSpPr>
          <p:cNvPr id="17" name="Text 12"/>
          <p:cNvSpPr txBox="1"/>
          <p:nvPr/>
        </p:nvSpPr>
        <p:spPr>
          <a:xfrm>
            <a:off x="4480560" y="1664208"/>
            <a:ext cx="2011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E9A2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10¹⁰+</a:t>
            </a:r>
            <a:endParaRPr lang="en-US" sz="2800" dirty="0"/>
          </a:p>
        </p:txBody>
      </p:sp>
      <p:sp>
        <p:nvSpPr>
          <p:cNvPr id="18" name="Text 13"/>
          <p:cNvSpPr txBox="1"/>
          <p:nvPr/>
        </p:nvSpPr>
        <p:spPr>
          <a:xfrm>
            <a:off x="4617720" y="228600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bacteria per mL of rumen fluid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6629400" y="1554480"/>
            <a:ext cx="2011680" cy="1325880"/>
          </a:xfrm>
          <a:prstGeom prst="roundRect">
            <a:avLst>
              <a:gd name="adj" fmla="val 8276"/>
            </a:avLst>
          </a:prstGeom>
          <a:solidFill>
            <a:srgbClr val="2F6B4F">
              <a:alpha val="75000"/>
            </a:srgbClr>
          </a:solidFill>
          <a:ln w="12700">
            <a:solidFill>
              <a:srgbClr val="6FA37F"/>
            </a:solidFill>
            <a:prstDash val="solid"/>
          </a:ln>
        </p:spPr>
      </p:sp>
      <p:sp>
        <p:nvSpPr>
          <p:cNvPr id="20" name="Text 15"/>
          <p:cNvSpPr txBox="1"/>
          <p:nvPr/>
        </p:nvSpPr>
        <p:spPr>
          <a:xfrm>
            <a:off x="6629400" y="1664208"/>
            <a:ext cx="2011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E9A2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800" dirty="0"/>
          </a:p>
        </p:txBody>
      </p:sp>
      <p:sp>
        <p:nvSpPr>
          <p:cNvPr id="21" name="Text 16"/>
          <p:cNvSpPr txBox="1"/>
          <p:nvPr/>
        </p:nvSpPr>
        <p:spPr>
          <a:xfrm>
            <a:off x="6766560" y="228600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microbial guilds, dividing the labor</a:t>
            </a:r>
            <a:endParaRPr lang="en-US" sz="1100" dirty="0"/>
          </a:p>
        </p:txBody>
      </p:sp>
      <p:sp>
        <p:nvSpPr>
          <p:cNvPr id="22" name="Shape 17"/>
          <p:cNvSpPr/>
          <p:nvPr/>
        </p:nvSpPr>
        <p:spPr>
          <a:xfrm>
            <a:off x="4480560" y="3017520"/>
            <a:ext cx="2011680" cy="1325880"/>
          </a:xfrm>
          <a:prstGeom prst="roundRect">
            <a:avLst>
              <a:gd name="adj" fmla="val 8276"/>
            </a:avLst>
          </a:prstGeom>
          <a:solidFill>
            <a:srgbClr val="2F6B4F">
              <a:alpha val="75000"/>
            </a:srgbClr>
          </a:solidFill>
          <a:ln w="12700">
            <a:solidFill>
              <a:srgbClr val="6FA37F"/>
            </a:solidFill>
            <a:prstDash val="solid"/>
          </a:ln>
        </p:spPr>
      </p:sp>
      <p:sp>
        <p:nvSpPr>
          <p:cNvPr id="23" name="Text 18"/>
          <p:cNvSpPr txBox="1"/>
          <p:nvPr/>
        </p:nvSpPr>
        <p:spPr>
          <a:xfrm>
            <a:off x="4480560" y="3127248"/>
            <a:ext cx="2011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E9A2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39–41°C</a:t>
            </a:r>
            <a:endParaRPr lang="en-US" sz="2800" dirty="0"/>
          </a:p>
        </p:txBody>
      </p:sp>
      <p:sp>
        <p:nvSpPr>
          <p:cNvPr id="24" name="Text 19"/>
          <p:cNvSpPr txBox="1"/>
          <p:nvPr/>
        </p:nvSpPr>
        <p:spPr>
          <a:xfrm>
            <a:off x="4617720" y="374904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fermenter kept warm by the host</a:t>
            </a:r>
            <a:endParaRPr lang="en-US" sz="1100" dirty="0"/>
          </a:p>
        </p:txBody>
      </p:sp>
      <p:sp>
        <p:nvSpPr>
          <p:cNvPr id="25" name="Shape 20"/>
          <p:cNvSpPr/>
          <p:nvPr/>
        </p:nvSpPr>
        <p:spPr>
          <a:xfrm>
            <a:off x="6629400" y="3017520"/>
            <a:ext cx="2011680" cy="1325880"/>
          </a:xfrm>
          <a:prstGeom prst="roundRect">
            <a:avLst>
              <a:gd name="adj" fmla="val 8276"/>
            </a:avLst>
          </a:prstGeom>
          <a:solidFill>
            <a:srgbClr val="2F6B4F">
              <a:alpha val="75000"/>
            </a:srgbClr>
          </a:solidFill>
          <a:ln w="12700">
            <a:solidFill>
              <a:srgbClr val="6FA37F"/>
            </a:solidFill>
            <a:prstDash val="solid"/>
          </a:ln>
        </p:spPr>
      </p:sp>
      <p:sp>
        <p:nvSpPr>
          <p:cNvPr id="26" name="Text 21"/>
          <p:cNvSpPr txBox="1"/>
          <p:nvPr/>
        </p:nvSpPr>
        <p:spPr>
          <a:xfrm>
            <a:off x="6629400" y="3127248"/>
            <a:ext cx="2011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E9A2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VFA + MP</a:t>
            </a:r>
            <a:endParaRPr lang="en-US" sz="2800" dirty="0"/>
          </a:p>
        </p:txBody>
      </p:sp>
      <p:sp>
        <p:nvSpPr>
          <p:cNvPr id="27" name="Text 22"/>
          <p:cNvSpPr txBox="1"/>
          <p:nvPr/>
        </p:nvSpPr>
        <p:spPr>
          <a:xfrm>
            <a:off x="6766560" y="374904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acids for energy, microbes for protein</a:t>
            </a:r>
            <a:endParaRPr lang="en-US" sz="1100" dirty="0"/>
          </a:p>
        </p:txBody>
      </p:sp>
      <p:sp>
        <p:nvSpPr>
          <p:cNvPr id="28" name="Text 23"/>
          <p:cNvSpPr txBox="1"/>
          <p:nvPr/>
        </p:nvSpPr>
        <p:spPr>
          <a:xfrm>
            <a:off x="457200" y="475488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FA3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Ration to Response  ·  Prof. Mousa M. A.</a:t>
            </a:r>
            <a:endParaRPr lang="en-US" sz="900" dirty="0"/>
          </a:p>
        </p:txBody>
      </p:sp>
      <p:sp>
        <p:nvSpPr>
          <p:cNvPr id="29" name="Text 24"/>
          <p:cNvSpPr txBox="1"/>
          <p:nvPr/>
        </p:nvSpPr>
        <p:spPr>
          <a:xfrm>
            <a:off x="8229600" y="475488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FA3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434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Modern Farm Nutrition Loop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1325880" y="1463040"/>
            <a:ext cx="2651760" cy="2651760"/>
          </a:xfrm>
          <a:prstGeom prst="ellipse">
            <a:avLst/>
          </a:prstGeom>
          <a:ln w="76200">
            <a:solidFill>
              <a:srgbClr val="DCEBD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217420" y="1028700"/>
            <a:ext cx="868680" cy="868680"/>
          </a:xfrm>
          <a:prstGeom prst="ellipse">
            <a:avLst/>
          </a:prstGeom>
          <a:solidFill>
            <a:srgbClr val="2F6B4F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2217420" y="102870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Formulate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365666" y="1691640"/>
            <a:ext cx="868680" cy="868680"/>
          </a:xfrm>
          <a:prstGeom prst="ellipse">
            <a:avLst/>
          </a:prstGeom>
          <a:solidFill>
            <a:srgbClr val="2F6B4F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3365666" y="169164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365666" y="3017520"/>
            <a:ext cx="868680" cy="868680"/>
          </a:xfrm>
          <a:prstGeom prst="ellipse">
            <a:avLst/>
          </a:prstGeom>
          <a:solidFill>
            <a:srgbClr val="2F6B4F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365666" y="301752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Observe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217420" y="3680460"/>
            <a:ext cx="868680" cy="868680"/>
          </a:xfrm>
          <a:prstGeom prst="ellipse">
            <a:avLst/>
          </a:prstGeom>
          <a:solidFill>
            <a:srgbClr val="2F6B4F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2217420" y="368046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1069174" y="3017520"/>
            <a:ext cx="868680" cy="868680"/>
          </a:xfrm>
          <a:prstGeom prst="ellipse">
            <a:avLst/>
          </a:prstGeom>
          <a:solidFill>
            <a:srgbClr val="2F6B4F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1069174" y="301752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1069174" y="1691640"/>
            <a:ext cx="868680" cy="868680"/>
          </a:xfrm>
          <a:prstGeom prst="ellipse">
            <a:avLst/>
          </a:prstGeom>
          <a:solidFill>
            <a:srgbClr val="E9A23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1069174" y="169164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43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</a:t>
            </a:r>
            <a:endParaRPr lang="en-US" sz="1100" dirty="0"/>
          </a:p>
        </p:txBody>
      </p:sp>
      <p:pic>
        <p:nvPicPr>
          <p:cNvPr id="1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77440" y="2377440"/>
            <a:ext cx="548640" cy="548640"/>
          </a:xfrm>
          <a:prstGeom prst="rect">
            <a:avLst/>
          </a:prstGeom>
        </p:spPr>
      </p:pic>
      <p:sp>
        <p:nvSpPr>
          <p:cNvPr id="17" name="Text 14"/>
          <p:cNvSpPr txBox="1"/>
          <p:nvPr/>
        </p:nvSpPr>
        <p:spPr>
          <a:xfrm>
            <a:off x="1920240" y="297180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C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clockwise,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5C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then re-evaluate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5120640" y="1188720"/>
            <a:ext cx="3566160" cy="3337560"/>
          </a:xfrm>
          <a:prstGeom prst="roundRect">
            <a:avLst>
              <a:gd name="adj" fmla="val 3288"/>
            </a:avLst>
          </a:prstGeom>
          <a:solidFill>
            <a:srgbClr val="F3F7F2"/>
          </a:solidFill>
          <a:ln w="12700">
            <a:solidFill>
              <a:srgbClr val="DCEBDD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5349240" y="1325880"/>
            <a:ext cx="3108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434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Precision nutrition is not a purchase</a:t>
            </a:r>
            <a:endParaRPr lang="en-US" sz="1700" dirty="0"/>
          </a:p>
        </p:txBody>
      </p:sp>
      <p:sp>
        <p:nvSpPr>
          <p:cNvPr id="20" name="Shape 17"/>
          <p:cNvSpPr/>
          <p:nvPr/>
        </p:nvSpPr>
        <p:spPr>
          <a:xfrm>
            <a:off x="5349240" y="2057400"/>
            <a:ext cx="1097280" cy="411480"/>
          </a:xfrm>
          <a:prstGeom prst="roundRect">
            <a:avLst>
              <a:gd name="adj" fmla="val 17778"/>
            </a:avLst>
          </a:prstGeom>
          <a:solidFill>
            <a:srgbClr val="2F6B4F"/>
          </a:solidFill>
          <a:ln w="12700">
            <a:solidFill>
              <a:srgbClr val="2F6B4F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5349240" y="205740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Weekly</a:t>
            </a:r>
            <a:endParaRPr lang="en-US" sz="1200" dirty="0"/>
          </a:p>
        </p:txBody>
      </p:sp>
      <p:sp>
        <p:nvSpPr>
          <p:cNvPr id="22" name="Text 19"/>
          <p:cNvSpPr txBox="1"/>
          <p:nvPr/>
        </p:nvSpPr>
        <p:spPr>
          <a:xfrm>
            <a:off x="6583680" y="205740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B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silage dry matter</a:t>
            </a:r>
            <a:endParaRPr lang="en-US" sz="1300" dirty="0"/>
          </a:p>
        </p:txBody>
      </p:sp>
      <p:sp>
        <p:nvSpPr>
          <p:cNvPr id="23" name="Shape 20"/>
          <p:cNvSpPr/>
          <p:nvPr/>
        </p:nvSpPr>
        <p:spPr>
          <a:xfrm>
            <a:off x="5349240" y="2651760"/>
            <a:ext cx="1097280" cy="411480"/>
          </a:xfrm>
          <a:prstGeom prst="roundRect">
            <a:avLst>
              <a:gd name="adj" fmla="val 17778"/>
            </a:avLst>
          </a:prstGeom>
          <a:solidFill>
            <a:srgbClr val="2F6B4F"/>
          </a:solidFill>
          <a:ln w="12700">
            <a:solidFill>
              <a:srgbClr val="2F6B4F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5349240" y="265176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</a:t>
            </a:r>
            <a:endParaRPr lang="en-US" sz="1200" dirty="0"/>
          </a:p>
        </p:txBody>
      </p:sp>
      <p:sp>
        <p:nvSpPr>
          <p:cNvPr id="25" name="Text 22"/>
          <p:cNvSpPr txBox="1"/>
          <p:nvPr/>
        </p:nvSpPr>
        <p:spPr>
          <a:xfrm>
            <a:off x="6583680" y="265176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B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particle separator</a:t>
            </a:r>
            <a:endParaRPr lang="en-US" sz="1300" dirty="0"/>
          </a:p>
        </p:txBody>
      </p:sp>
      <p:sp>
        <p:nvSpPr>
          <p:cNvPr id="26" name="Shape 23"/>
          <p:cNvSpPr/>
          <p:nvPr/>
        </p:nvSpPr>
        <p:spPr>
          <a:xfrm>
            <a:off x="5349240" y="3246120"/>
            <a:ext cx="1097280" cy="411480"/>
          </a:xfrm>
          <a:prstGeom prst="roundRect">
            <a:avLst>
              <a:gd name="adj" fmla="val 17778"/>
            </a:avLst>
          </a:prstGeom>
          <a:solidFill>
            <a:srgbClr val="2F6B4F"/>
          </a:solidFill>
          <a:ln w="12700">
            <a:solidFill>
              <a:srgbClr val="2F6B4F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5349240" y="32461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</a:t>
            </a:r>
            <a:endParaRPr lang="en-US" sz="1200" dirty="0"/>
          </a:p>
        </p:txBody>
      </p:sp>
      <p:sp>
        <p:nvSpPr>
          <p:cNvPr id="28" name="Text 25"/>
          <p:cNvSpPr txBox="1"/>
          <p:nvPr/>
        </p:nvSpPr>
        <p:spPr>
          <a:xfrm>
            <a:off x="6583680" y="324612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B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manure score</a:t>
            </a:r>
            <a:endParaRPr lang="en-US" sz="1300" dirty="0"/>
          </a:p>
        </p:txBody>
      </p:sp>
      <p:sp>
        <p:nvSpPr>
          <p:cNvPr id="29" name="Shape 26"/>
          <p:cNvSpPr/>
          <p:nvPr/>
        </p:nvSpPr>
        <p:spPr>
          <a:xfrm>
            <a:off x="5349240" y="3840480"/>
            <a:ext cx="1097280" cy="411480"/>
          </a:xfrm>
          <a:prstGeom prst="roundRect">
            <a:avLst>
              <a:gd name="adj" fmla="val 17778"/>
            </a:avLst>
          </a:prstGeom>
          <a:solidFill>
            <a:srgbClr val="E9A23B"/>
          </a:solidFill>
          <a:ln w="12700">
            <a:solidFill>
              <a:srgbClr val="E9A23B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5349240" y="384048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43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group</a:t>
            </a:r>
            <a:endParaRPr lang="en-US" sz="1200" dirty="0"/>
          </a:p>
        </p:txBody>
      </p:sp>
      <p:sp>
        <p:nvSpPr>
          <p:cNvPr id="31" name="Text 28"/>
          <p:cNvSpPr txBox="1"/>
          <p:nvPr/>
        </p:nvSpPr>
        <p:spPr>
          <a:xfrm>
            <a:off x="6583680" y="384048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B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milk and components</a:t>
            </a:r>
            <a:endParaRPr lang="en-US" sz="1300" dirty="0"/>
          </a:p>
        </p:txBody>
      </p:sp>
      <p:sp>
        <p:nvSpPr>
          <p:cNvPr id="32" name="Text 29"/>
          <p:cNvSpPr txBox="1"/>
          <p:nvPr/>
        </p:nvSpPr>
        <p:spPr>
          <a:xfrm>
            <a:off x="457200" y="475488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Ration to Response  ·  Prof. Mousa M. A.</a:t>
            </a:r>
            <a:endParaRPr lang="en-US" sz="900" dirty="0"/>
          </a:p>
        </p:txBody>
      </p:sp>
      <p:sp>
        <p:nvSpPr>
          <p:cNvPr id="33" name="Text 30"/>
          <p:cNvSpPr txBox="1"/>
          <p:nvPr/>
        </p:nvSpPr>
        <p:spPr>
          <a:xfrm>
            <a:off x="8229600" y="475488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434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406640" y="3383280"/>
            <a:ext cx="3291840" cy="3291840"/>
          </a:xfrm>
          <a:prstGeom prst="ellipse">
            <a:avLst/>
          </a:prstGeom>
          <a:solidFill>
            <a:srgbClr val="2F6B4F">
              <a:alpha val="45000"/>
            </a:srgbClr>
          </a:solidFill>
          <a:ln w="12700">
            <a:solidFill>
              <a:srgbClr val="2F6B4F">
                <a:alpha val="45000"/>
              </a:srgbClr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64008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Don't stop at the ration.</a:t>
            </a:r>
            <a:endParaRPr lang="en-US" sz="42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1234440" cy="822960"/>
          </a:xfrm>
          <a:prstGeom prst="roundRect">
            <a:avLst>
              <a:gd name="adj" fmla="val 13333"/>
            </a:avLst>
          </a:prstGeom>
          <a:solidFill>
            <a:srgbClr val="2F6B4F"/>
          </a:solidFill>
          <a:ln w="12700">
            <a:solidFill>
              <a:srgbClr val="2F6B4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1828800"/>
            <a:ext cx="1234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CEB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 the</a:t>
            </a:r>
            <a:endParaRPr lang="en-US" sz="10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Nutrient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1892808" y="1828800"/>
            <a:ext cx="1234440" cy="822960"/>
          </a:xfrm>
          <a:prstGeom prst="roundRect">
            <a:avLst>
              <a:gd name="adj" fmla="val 13333"/>
            </a:avLst>
          </a:prstGeom>
          <a:solidFill>
            <a:srgbClr val="2F6B4F"/>
          </a:solidFill>
          <a:ln w="12700">
            <a:solidFill>
              <a:srgbClr val="2F6B4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892808" y="1828800"/>
            <a:ext cx="1234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CEB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 the</a:t>
            </a:r>
            <a:endParaRPr lang="en-US" sz="10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Particle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236976" y="1828800"/>
            <a:ext cx="1234440" cy="822960"/>
          </a:xfrm>
          <a:prstGeom prst="roundRect">
            <a:avLst>
              <a:gd name="adj" fmla="val 13333"/>
            </a:avLst>
          </a:prstGeom>
          <a:solidFill>
            <a:srgbClr val="2F6B4F"/>
          </a:solidFill>
          <a:ln w="12700">
            <a:solidFill>
              <a:srgbClr val="2F6B4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236976" y="1828800"/>
            <a:ext cx="1234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CEB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 the</a:t>
            </a:r>
            <a:endParaRPr lang="en-US" sz="10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Rumen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581144" y="1828800"/>
            <a:ext cx="1234440" cy="822960"/>
          </a:xfrm>
          <a:prstGeom prst="roundRect">
            <a:avLst>
              <a:gd name="adj" fmla="val 13333"/>
            </a:avLst>
          </a:prstGeom>
          <a:solidFill>
            <a:srgbClr val="2F6B4F"/>
          </a:solidFill>
          <a:ln w="12700">
            <a:solidFill>
              <a:srgbClr val="2F6B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581144" y="1828800"/>
            <a:ext cx="1234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CEB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 the</a:t>
            </a:r>
            <a:endParaRPr lang="en-US" sz="10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Manure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925312" y="1828800"/>
            <a:ext cx="1234440" cy="822960"/>
          </a:xfrm>
          <a:prstGeom prst="roundRect">
            <a:avLst>
              <a:gd name="adj" fmla="val 13333"/>
            </a:avLst>
          </a:prstGeom>
          <a:solidFill>
            <a:srgbClr val="2F6B4F"/>
          </a:solidFill>
          <a:ln w="12700">
            <a:solidFill>
              <a:srgbClr val="2F6B4F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925312" y="1828800"/>
            <a:ext cx="1234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CEB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 the</a:t>
            </a:r>
            <a:endParaRPr lang="en-US" sz="10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Milk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269480" y="1828800"/>
            <a:ext cx="1234440" cy="822960"/>
          </a:xfrm>
          <a:prstGeom prst="roundRect">
            <a:avLst>
              <a:gd name="adj" fmla="val 13333"/>
            </a:avLst>
          </a:prstGeom>
          <a:solidFill>
            <a:srgbClr val="E9A23B"/>
          </a:solidFill>
          <a:ln w="12700">
            <a:solidFill>
              <a:srgbClr val="E9A23B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7269480" y="1828800"/>
            <a:ext cx="1234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43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 the</a:t>
            </a:r>
            <a:endParaRPr lang="en-US" sz="10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143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</a:t>
            </a:r>
            <a:endParaRPr lang="en-US" sz="100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3063240"/>
            <a:ext cx="6766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i="1" dirty="0">
                <a:solidFill>
                  <a:srgbClr val="DCEBD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Let the measured response of the cow — not the formulation screen — have the final word.</a:t>
            </a:r>
            <a:endParaRPr lang="en-US" sz="2000" dirty="0"/>
          </a:p>
        </p:txBody>
      </p:sp>
      <p:sp>
        <p:nvSpPr>
          <p:cNvPr id="17" name="Text 15"/>
          <p:cNvSpPr txBox="1"/>
          <p:nvPr/>
        </p:nvSpPr>
        <p:spPr>
          <a:xfrm>
            <a:off x="548640" y="3977640"/>
            <a:ext cx="6766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E9A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Observe the whole system. Measure what matters. Change deliberately. Then measure again.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457200" y="475488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FA3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Ration to Response  ·  Prof. Mousa M. A.</a:t>
            </a:r>
            <a:endParaRPr lang="en-US" sz="900" dirty="0"/>
          </a:p>
        </p:txBody>
      </p:sp>
      <p:sp>
        <p:nvSpPr>
          <p:cNvPr id="19" name="Text 17"/>
          <p:cNvSpPr txBox="1"/>
          <p:nvPr/>
        </p:nvSpPr>
        <p:spPr>
          <a:xfrm>
            <a:off x="8229600" y="475488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FA3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From Ration to Response</dc:title>
  <dc:subject>PptxGenJS Presentation</dc:subject>
  <dc:creator>Prof. Mousa M. A.</dc:creator>
  <cp:lastModifiedBy>Prof. Mousa M. A.</cp:lastModifiedBy>
  <cp:revision>1</cp:revision>
  <dcterms:created xsi:type="dcterms:W3CDTF">2026-09-30T21:39:26Z</dcterms:created>
  <dcterms:modified xsi:type="dcterms:W3CDTF">2026-09-30T21:39:26Z</dcterms:modified>
</cp:coreProperties>
</file>